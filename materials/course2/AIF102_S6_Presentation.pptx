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6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AI-assisted Solution Design: Evaluating, Refining &amp; Justifying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3291840"/>
            <a:ext cx="10881360" cy="82296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2918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3 — Reasoning &amp; Solution Development   · 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Design Better Solutions   ·   CLO5 · CLO6   ·   120'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Course 2 — AI-Assisted Problem Solving  ·  Flagship case: Speech Emotion Recognition (SER)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at a Glance — 120'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914400"/>
                <a:gridCol w="4572000"/>
                <a:gridCol w="24688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Intent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Mini Lecture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20'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conceptual foundation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· Live Demo (SER)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20'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Observe AI reasoning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 prompt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· Individual Practice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25'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 concepts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· Group Workshop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40'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Collaborative solution design: framework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Feedback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· Reflection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15'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Consolidate learning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Rubric &amp; Collect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Buffer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5'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6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Outcomes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914400"/>
        </p:xfrm>
        <a:graphic>
          <a:graphicData uri="http://schemas.openxmlformats.org/drawingml/2006/table">
            <a:tbl>
              <a:tblPr/>
              <a:tblGrid>
                <a:gridCol w="7589520"/>
                <a:gridCol w="1828800"/>
                <a:gridCol w="14630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Sau buổi học, sinh viên có thể…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Evaluate phương án bằng tiêu chí rõ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AI-assisted Solution Framework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Justify vì sao chọn giải pháp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Refine giải pháp bằng AI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Produce Solution Framework Package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CLO5·6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6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Concepts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108960" cy="914400"/>
          </a:xfrm>
          <a:prstGeom prst="roundRect">
            <a:avLst>
              <a:gd name="adj" fmla="val 6000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31089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 Responsible AI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931920" y="182880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Judgment · Accountability · Transparency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907792"/>
            <a:ext cx="3108960" cy="914400"/>
          </a:xfrm>
          <a:prstGeom prst="roundRect">
            <a:avLst>
              <a:gd name="adj" fmla="val 6000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907792"/>
            <a:ext cx="31089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 Decision Making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931920" y="2907792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 · Trade-off · Prioritization · Feasibility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986784"/>
            <a:ext cx="3108960" cy="914400"/>
          </a:xfrm>
          <a:prstGeom prst="roundRect">
            <a:avLst>
              <a:gd name="adj" fmla="val 6000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986784"/>
            <a:ext cx="31089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 Solution Design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931920" y="3986784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· Workflow · Human-in-the-loop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5065776"/>
            <a:ext cx="3108960" cy="914400"/>
          </a:xfrm>
          <a:prstGeom prst="roundRect">
            <a:avLst>
              <a:gd name="adj" fmla="val 6000"/>
            </a:avLst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5065776"/>
            <a:ext cx="31089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④ AI-assisted Evaluation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931920" y="5065776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· Risk · Devil's Advocate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6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Pre-class Preparation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194560" cy="914400"/>
          </a:xfrm>
          <a:prstGeom prst="roundRect">
            <a:avLst>
              <a:gd name="adj" fmla="val 6000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202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7520" y="192024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Matrix &amp; trade-off templates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017520"/>
            <a:ext cx="2194560" cy="914400"/>
          </a:xfrm>
          <a:prstGeom prst="roundRect">
            <a:avLst>
              <a:gd name="adj" fmla="val 6000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0175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bị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017520" y="301752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Exploration Package (ART5) · 1–2 concept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114800"/>
            <a:ext cx="2194560" cy="914400"/>
          </a:xfrm>
          <a:prstGeom prst="roundRect">
            <a:avLst>
              <a:gd name="adj" fmla="val 6000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1148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 theo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017520" y="411480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· công cụ vẽ (Miro/Draw.io)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6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Lecture · Learning Journey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3468624" cy="731520"/>
          </a:xfrm>
          <a:prstGeom prst="roundRect">
            <a:avLst>
              <a:gd name="adj" fmla="val 7500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468880"/>
            <a:ext cx="3468624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099560" y="2468880"/>
            <a:ext cx="256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</a:rPr>
              <a:t>▶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346448" y="2468880"/>
            <a:ext cx="3468624" cy="731520"/>
          </a:xfrm>
          <a:prstGeom prst="roundRect">
            <a:avLst>
              <a:gd name="adj" fmla="val 7500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4346448" y="2468880"/>
            <a:ext cx="3468624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Framework / Decision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805928" y="2468880"/>
            <a:ext cx="256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</a:rPr>
              <a:t>▶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052816" y="2468880"/>
            <a:ext cx="3468624" cy="731520"/>
          </a:xfrm>
          <a:prstGeom prst="roundRect">
            <a:avLst>
              <a:gd name="adj" fmla="val 7500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8052816" y="2468880"/>
            <a:ext cx="3468624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3474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→ TODAY → Next — vị trí Session trong hành trình cả khóa.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4114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CLO: </a:t>
            </a:r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CLO5 · CLO6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6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Lecture · Core Concept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3736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"best" solution — only the most appropriate under constraints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33832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338328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criteria nêu TRƯỚC khi đánh giá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41148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411480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chọn có ý thức về cái giá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84632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846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5880" y="484632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Human-in-the-loop: con người giữ điểm quyết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6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Lecture · Framework &amp; Human-led AI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 Workflow (human giữ điểm verify/decide)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1615440" cy="594360"/>
          </a:xfrm>
          <a:prstGeom prst="roundRect">
            <a:avLst>
              <a:gd name="adj" fmla="val 9231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468880"/>
            <a:ext cx="161544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246376" y="2468880"/>
            <a:ext cx="256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</a:rPr>
              <a:t>▶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493264" y="2468880"/>
            <a:ext cx="1615440" cy="594360"/>
          </a:xfrm>
          <a:prstGeom prst="roundRect">
            <a:avLst>
              <a:gd name="adj" fmla="val 9231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2493264" y="2468880"/>
            <a:ext cx="161544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099560" y="2468880"/>
            <a:ext cx="256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</a:rPr>
              <a:t>▶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346448" y="2468880"/>
            <a:ext cx="1615440" cy="594360"/>
          </a:xfrm>
          <a:prstGeom prst="roundRect">
            <a:avLst>
              <a:gd name="adj" fmla="val 9231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346448" y="2468880"/>
            <a:ext cx="161544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52744" y="2468880"/>
            <a:ext cx="256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</a:rPr>
              <a:t>▶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199632" y="2468880"/>
            <a:ext cx="1615440" cy="594360"/>
          </a:xfrm>
          <a:prstGeom prst="roundRect">
            <a:avLst>
              <a:gd name="adj" fmla="val 9231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199632" y="2468880"/>
            <a:ext cx="161544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805928" y="2468880"/>
            <a:ext cx="256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</a:rPr>
              <a:t>▶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8052816" y="2468880"/>
            <a:ext cx="1615440" cy="594360"/>
          </a:xfrm>
          <a:prstGeom prst="roundRect">
            <a:avLst>
              <a:gd name="adj" fmla="val 9231"/>
            </a:avLst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8052816" y="2468880"/>
            <a:ext cx="161544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659112" y="2468880"/>
            <a:ext cx="256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</a:rPr>
              <a:t>▶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9906000" y="2468880"/>
            <a:ext cx="1615440" cy="594360"/>
          </a:xfrm>
          <a:prstGeom prst="roundRect">
            <a:avLst>
              <a:gd name="adj" fmla="val 9231"/>
            </a:avLst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9906000" y="2468880"/>
            <a:ext cx="161544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0080" y="3657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Human-led AI loop: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" y="4114800"/>
            <a:ext cx="2542032" cy="594360"/>
          </a:xfrm>
          <a:prstGeom prst="roundRect">
            <a:avLst>
              <a:gd name="adj" fmla="val 9231"/>
            </a:avLst>
          </a:prstGeom>
          <a:solidFill>
            <a:srgbClr val="065A82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114800"/>
            <a:ext cx="2542032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compare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172968" y="4114800"/>
            <a:ext cx="256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</a:rPr>
              <a:t>▶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419856" y="4114800"/>
            <a:ext cx="2542032" cy="594360"/>
          </a:xfrm>
          <a:prstGeom prst="roundRect">
            <a:avLst>
              <a:gd name="adj" fmla="val 9231"/>
            </a:avLst>
          </a:prstGeom>
          <a:solidFill>
            <a:srgbClr val="065A82"/>
          </a:solidFill>
          <a:ln/>
        </p:spPr>
      </p:sp>
      <p:sp>
        <p:nvSpPr>
          <p:cNvPr id="27" name="Text 25"/>
          <p:cNvSpPr/>
          <p:nvPr/>
        </p:nvSpPr>
        <p:spPr>
          <a:xfrm>
            <a:off x="3419856" y="4114800"/>
            <a:ext cx="2542032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critique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952744" y="4114800"/>
            <a:ext cx="256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</a:rPr>
              <a:t>▶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199632" y="4114800"/>
            <a:ext cx="2542032" cy="594360"/>
          </a:xfrm>
          <a:prstGeom prst="roundRect">
            <a:avLst>
              <a:gd name="adj" fmla="val 9231"/>
            </a:avLst>
          </a:prstGeom>
          <a:solidFill>
            <a:srgbClr val="065A82"/>
          </a:solidFill>
          <a:ln/>
        </p:spPr>
      </p:sp>
      <p:sp>
        <p:nvSpPr>
          <p:cNvPr id="30" name="Text 28"/>
          <p:cNvSpPr/>
          <p:nvPr/>
        </p:nvSpPr>
        <p:spPr>
          <a:xfrm>
            <a:off x="6199632" y="4114800"/>
            <a:ext cx="2542032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judgment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732520" y="4114800"/>
            <a:ext cx="256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</a:rPr>
              <a:t>▶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8979408" y="4114800"/>
            <a:ext cx="2542032" cy="594360"/>
          </a:xfrm>
          <a:prstGeom prst="roundRect">
            <a:avLst>
              <a:gd name="adj" fmla="val 9231"/>
            </a:avLst>
          </a:prstGeom>
          <a:solidFill>
            <a:srgbClr val="065A82"/>
          </a:solidFill>
          <a:ln/>
        </p:spPr>
      </p:sp>
      <p:sp>
        <p:nvSpPr>
          <p:cNvPr id="33" name="Text 31"/>
          <p:cNvSpPr/>
          <p:nvPr/>
        </p:nvSpPr>
        <p:spPr>
          <a:xfrm>
            <a:off x="8979408" y="4114800"/>
            <a:ext cx="2542032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decide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6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· SER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5544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thiết kế workflow SER; SV phân tích mạnh/yếu; AI đưa alternative; áp Decision Matrix + Trade-off.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514600"/>
          <a:ext cx="1088136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6400800"/>
                <a:gridCol w="36576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(SER)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PL-08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 options: data-need, latency, accuracy, cost, feasibility.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Matrix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PL-09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an SER workflow with human-in-the-loop checkpoints.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Sơ đồ + điểm quyết định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PL-07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Devil's Advocate: where does this workflow break?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Rủi ro (leakage, bias)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6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· Expected AI Mistakes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914400"/>
        </p:xfrm>
        <a:graphic>
          <a:graphicData uri="http://schemas.openxmlformats.org/drawingml/2006/table">
            <a:tbl>
              <a:tblPr/>
              <a:tblGrid>
                <a:gridCol w="5440680"/>
                <a:gridCol w="5440680"/>
              </a:tblGrid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Mistake (để lộ có chủ đích)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8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Câu hỏi phản biện dẫn dắt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 bỏ bước Evaluation/validation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Làm sao biết mô hình đúng?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 có human checkpoint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 người verify/quyết ở đâu?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leakage (trộn speaker train/test)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có độc lập speaker không?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5778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người: Verify → Improve → Decide → Own.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6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&amp; Group Workshop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Practice · 25'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toán của mình: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Decision Matrix · Trade-offs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Risks · Refined Solution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Worksheet WS6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72200" y="1691640"/>
            <a:ext cx="534924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Workshop · 40'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0" y="228600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4: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phản biện chéo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điều chỉnh Framework · viết Justification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0080" y="429768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WS6: Candidate Solutions · Decision Criteria · Decision Matrix · Trade-off · Risks · AI Critique · Solution Framework · Human Justification · Reflection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6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Deliverable · ART6 — AI-assisted Solution Framework Package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88136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694944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Thành phần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Mô tả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Matrix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phương án × tiêu chí (evidence)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Trade-off Analysis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cái được/mất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 Framework Diagram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human-in-the-loop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Justification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vì sao chọn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029200"/>
            <a:ext cx="10881360" cy="822960"/>
          </a:xfrm>
          <a:prstGeom prst="roundRect">
            <a:avLst>
              <a:gd name="adj" fmla="val 6667"/>
            </a:avLst>
          </a:prstGeom>
          <a:solidFill>
            <a:srgbClr val="FBECD9"/>
          </a:solidFill>
          <a:ln w="12700">
            <a:solidFill>
              <a:srgbClr val="C9781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50292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7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bar:  </a:t>
            </a:r>
            <a:pPr indent="0" marL="0"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≥3 phương án + tiêu chí nêu trước + framework có điểm human checkpoint + biện minh.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6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 · Rubric R6 (0–3)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88136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280160"/>
                <a:gridCol w="603504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Tiêu chí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Trọng số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Mức Proficient (2)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Criteria &amp; Matrix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Tiêu chí rõ, ma trận đúng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Trade-off Analysis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Nêu đánh đổi rõ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 Framework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 khả thi, có checkpoint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Justification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Biện minh thuyết phục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Reflection &amp; Declaration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Đủ 4 câu + Declaration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029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Thang: 0 Missing · 1 Developing · 2 Proficient · 3 Exemplary (Handbook Mục V.1). Pass = mỗi trục ≥1 và tổng ≥60%.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6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Homework &amp; Reflection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486400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74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5029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Hoàn thiện Solution Framework Package (ART6)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Chuyển Framework → Problem Solution Brief (chuẩn bị)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Sơ đồ workflow để truyền đạt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737360"/>
            <a:ext cx="5257800" cy="3108960"/>
          </a:xfrm>
          <a:prstGeom prst="roundRect">
            <a:avLst>
              <a:gd name="adj" fmla="val 1765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874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(4 câu chuẩn)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237744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AI giúp gì?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AI sai ở đâu?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Bạn chỉnh gì?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Bạn học gì?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6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Chốt buổi học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</a:rPr>
              <a:t>●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7280" y="18288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"best" solution — only the most appropriate under constraints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5146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</a:rPr>
              <a:t>●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25146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 về hôm nay: ART6 — AI-assisted Solution Framework Package.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</a:rPr>
              <a:t>●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32004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Tiếp theo: Communication.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420624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20624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Humans decide and justify.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62179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a Thought Partner, not the Decision Maker.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2026-07-30T13:21:43Z</dcterms:created>
  <dcterms:modified xsi:type="dcterms:W3CDTF">2026-07-30T13:21:43Z</dcterms:modified>
</cp:coreProperties>
</file>