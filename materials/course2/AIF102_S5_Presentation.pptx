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Reasoning: From Evidence to Solution Ideas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329184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3 — Reasoning &amp; Solution Development   ·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Design Better Solutions   ·   CLO4 · CLO5   ·   120'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Course 2 — AI-Assisted Problem Solving  ·  Flagship case: Speech Emotion Recognition (SER)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at a Glance — 120'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914400"/>
                <a:gridCol w="4572000"/>
                <a:gridCol w="246888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Intent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· Mini Lecture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conceptual foundation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· Live Demo (SER)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Observe AI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 prompt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· Individual Practice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concepts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Coach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Group Workshop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Collaborative reasoning: solution ideas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· Reflection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Consolidate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Rubric &amp; Collect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5'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7589520"/>
                <a:gridCol w="1828800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Sau buổi học, sinh viên có thể…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Bloom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Transform insight → hướng giải pháp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nhiều phương án bằng AI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 Divergent → Convergent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Critique bằng AI (Devil's Advocate)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Produce Solution Exploration Package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CLO4·5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Concepts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28800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① Mindset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931920" y="182880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 Thought Partner · Human-led AI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07792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07792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② Structured 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931920" y="2907792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· Convergent · Solution Space · Trade-offs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986784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986784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③ Critical Thinking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3986784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 · Counterargument · Bias Detection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065776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65776"/>
            <a:ext cx="3108960" cy="9144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④ Governance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931920" y="5065776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Declaration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Pre-class Preparation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9202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Đọc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017520" y="192024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Synthesis Matrix (ART4)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1752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30175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Chuẩn bị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017520" y="301752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+ Opportunity Statements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14800"/>
            <a:ext cx="2194560" cy="914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41148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Mang theo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017520" y="4114800"/>
            <a:ext cx="8503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Gemini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Learning Journey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Insights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099560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46448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/>
          <p:nvPr/>
        </p:nvSpPr>
        <p:spPr>
          <a:xfrm>
            <a:off x="4346448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(Divergent + Critique)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805928" y="2468880"/>
            <a:ext cx="256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8052816" y="2468880"/>
            <a:ext cx="3468624" cy="731520"/>
          </a:xfrm>
          <a:prstGeom prst="roundRect">
            <a:avLst>
              <a:gd name="adj" fmla="val 7500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052816" y="2468880"/>
            <a:ext cx="3468624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(S6)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4747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Previous → TODAY → Next — vị trí Session trong hành trình cả khóa.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CLO: </a:t>
            </a:r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CLO4 · CLO5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Core Concept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280160"/>
          </a:xfrm>
          <a:prstGeom prst="roundRect">
            <a:avLst>
              <a:gd name="adj" fmla="val 5714"/>
            </a:avLst>
          </a:prstGeom>
          <a:solidFill>
            <a:srgbClr val="21295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373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expands options; humans judge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640080" y="3383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383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25880" y="338328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Divergent trước: sinh nhiều phương án, chưa phán xét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41148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4114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411480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đóng Devil's Advocate để phản biện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846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846320"/>
            <a:ext cx="10149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Chưa quyết định cuối — để dành Session 6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Lecture · Framework &amp; Human-led AI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Divergent → Convergent (S5 = Divergent + Critique)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172968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419856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3419856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952744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199632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199632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732520" y="246888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979408" y="246888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8979408" y="246888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1–2 concepts → S6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40080" y="3657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Human-led AI loop: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172968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419856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1" name="Text 19"/>
          <p:cNvSpPr/>
          <p:nvPr/>
        </p:nvSpPr>
        <p:spPr>
          <a:xfrm>
            <a:off x="3419856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952744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6199632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4" name="Text 22"/>
          <p:cNvSpPr/>
          <p:nvPr/>
        </p:nvSpPr>
        <p:spPr>
          <a:xfrm>
            <a:off x="6199632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732520" y="4114800"/>
            <a:ext cx="256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A6B7A"/>
                </a:solidFill>
              </a:rPr>
              <a:t>▶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979408" y="4114800"/>
            <a:ext cx="2542032" cy="59436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8979408" y="4114800"/>
            <a:ext cx="2542032" cy="594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(→ Decide ở S6)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SER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881360" cy="777240"/>
          </a:xfrm>
          <a:prstGeom prst="roundRect">
            <a:avLst>
              <a:gd name="adj" fmla="val 7059"/>
            </a:avLst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đề xuất "dùng CNN" → SV phản biện: tại sao không Transformer? Graph? → AI Devil's Advocate → so sánh.</a:t>
            </a:r>
            <a:endParaRPr lang="en-US" sz="12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88136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640080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(SER)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 5 SER model approaches with pros/cons.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CNN·LSTM·Transformer·Multimodal·GNN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Devil's Advocate: attack 'just use CNN'.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Điểm yếu CNN (dữ liệu ít, ngữ cảnh)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PL-08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on data-need, latency, accuracy, complexity.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A6B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Bảng so sánh sơ bộ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· Expected AI Mistakes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881360" cy="914400"/>
        </p:xfrm>
        <a:graphic>
          <a:graphicData uri="http://schemas.openxmlformats.org/drawingml/2006/table">
            <a:tbl>
              <a:tblPr/>
              <a:tblGrid>
                <a:gridCol w="5440680"/>
                <a:gridCol w="5440680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Mistake (để lộ có chủ đích)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8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Câu hỏi phản biện dẫn dắt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CNN quá sớm (giải pháp phổ biến)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Tốt nhất hay chỉ quen thuộc?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Bỏ ràng buộc thật (dữ liệu nhỏ, real-time)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Khả thi với dữ liệu/thiết bị của ta?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Không nêu trade-off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i="1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phương án đánh đổi gì?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người: Verify → Improve → Decide → Own.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&amp; Group Workshop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Practice · 25'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Bài toán của mình: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Generate 5 ideas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Compare · Challenge · Improve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Worksheet WS5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691640"/>
            <a:ext cx="534924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Workshop · 40'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Nhóm 4: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AI đóng Devil's Advocate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 sánh trade-off · chọn 2 concept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0080" y="4297680"/>
            <a:ext cx="10881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WS5: Key Insights · Candidate Solutions · Assumptions · AI Critique · Trade-offs · Decision Criteria · Selected Concepts · Reflection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Deliverable · ART5 — Solution Exploration Package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694944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Thành phần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Mô tả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Candidate Solutions (5–7)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truy về insight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Critique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Devil's Advocate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Trade-offs &amp; Assumptions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mỗi phương án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Selected Concepts (1–2)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có lý 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5029200"/>
            <a:ext cx="10881360" cy="822960"/>
          </a:xfrm>
          <a:prstGeom prst="roundRect">
            <a:avLst>
              <a:gd name="adj" fmla="val 6667"/>
            </a:avLst>
          </a:prstGeom>
          <a:solidFill>
            <a:srgbClr val="FBECD9"/>
          </a:solidFill>
          <a:ln w="12700">
            <a:solidFill>
              <a:srgbClr val="C9781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14400" y="5029200"/>
            <a:ext cx="10332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78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bar:  </a:t>
            </a:r>
            <a:pPr indent="0" marL="0">
              <a:buNone/>
            </a:pPr>
            <a:r>
              <a:rPr lang="en-US" sz="140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≥5 phương án + AI critique + 1–2 concept có lý do. CHƯA làm Decision Framework (để S6).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Assessment · Rubric R5 (0–3)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88136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1280160"/>
                <a:gridCol w="6035040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Tiêu chí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Trọng số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Mức Proficient (2)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Diversity of Ideas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≥5 phương án đa dạng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AI-assisted Reasoning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Dùng AI mở rộng góc nhìn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Phản biện hệ thống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Human Decision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Chọn concept có lý 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Reflection &amp;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Đủ 4 câu + Declaration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Thang: 0 Missing · 1 Developing · 2 Proficient · 3 Exemplary (Handbook Mục V.1). Pass = mỗi trục ≥1 và tổng ≥60%.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Homework &amp; Reflection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10515600" y="502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486400" cy="3108960"/>
          </a:xfrm>
          <a:prstGeom prst="roundRect">
            <a:avLst>
              <a:gd name="adj" fmla="val 1765"/>
            </a:avLst>
          </a:prstGeom>
          <a:solidFill>
            <a:srgbClr val="FFFFFF"/>
          </a:solidFill>
          <a:ln w="12700">
            <a:solidFill>
              <a:srgbClr val="D8E2E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68680" y="228600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Hoàn thiện Solution Exploration Package (ART5)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Chọn 01 concept + dựng AI-assisted Solution Framework (nháp)</a:t>
            </a:r>
            <a:endParaRPr lang="en-US" sz="13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1B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Đính kèm AI Log + AI Declaration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3108960"/>
          </a:xfrm>
          <a:prstGeom prst="roundRect">
            <a:avLst>
              <a:gd name="adj" fmla="val 1765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8745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(4 câu chuẩn)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492240" y="23774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AI giúp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AI sai ở đâu?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Bạn chỉnh gì?</a:t>
            </a:r>
            <a:endParaRPr lang="en-US" sz="16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Bạn học gì?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647395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AIF102 · Session 5 · SER  —  AI is a Thought Partner, not the Decision Maker.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Chốt buổi học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731520" y="18288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097280" y="18288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expands options; humans judge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5146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97280" y="25146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 về hôm nay: ART5 — Solution Exploration Package.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7293"/>
                </a:solidFill>
              </a:rPr>
              <a:t>●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320040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Tiếp theo: Decision (S6).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420624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2062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many; judge with evidence.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6217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 Thought Partner, not the Decision Maker.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2026-07-30T13:21:43Z</dcterms:created>
  <dcterms:modified xsi:type="dcterms:W3CDTF">2026-07-30T13:21:43Z</dcterms:modified>
</cp:coreProperties>
</file>