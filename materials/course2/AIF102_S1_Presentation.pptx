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Chào cả lớp. Course 1 đã dạy AI Literacy. Course 2 dùng AI để giải quyết vấn đề thật — nhưng phải hiểu vấn đề trước. Câu hỏi neo: AI đưa đáp án hay giúp bạn hiểu vấn đề?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Bản đồ 120 phút. 20' lý thuyết nền, phần lớn còn lại sinh viên tự làm. Cột AI-TA cho biết vai trò trợ giảng AI theo từng phase.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Năm chuẩn đầu ra, gắn Bloom và CLO. LO2–LO4 là trọng tâm thực hành hôm nay; LO5 là kỹ năng phản biện 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Khái niệm chia 4 nhóm: tư duy, framing, phương pháp, quản trị. Bám khung Handbook để nhất quán toàn khóa.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Chuẩn bị trước lớp giúp buổi học vào việc ngay. Đặc biệt: shortlist 2–3 bài toán để chọn flagship trong giờ.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1 nền tảng; Course 2 (ta đang ở đây) framing &amp; giải quyết vấn đề; rồi RBL, Capstone. Vấn đề chọn hôm nay theo bạn tới Capstone.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Chu trình 5 bước; hôm nay ở Understand + Frame — phần hay bị bỏ qua vì ai cũng muốn nhảy tới giải pháp.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không phải search/oracle/answer machine. Là đối tác tư duy: đặt câu hỏi ngược, thách thức giả định, có thể sai rất tự tin.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sinh — con người verify/improve/decide. Ba câu hỏi vàng dùng với mọi output. Sai mà nộp thì bạn chịu trách nhiệm.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Trật tự đúng: Problem → Evidence → Solution. Triệu chứng ≠ vấn đề. AI cũng sẽ mắc lỗi nhảy sang giải pháp trong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Chọn bài toán từ Problem Bank, gắn bó suốt khóa. Ghi Flagship ID để truy vết sang RBL/Capstone.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Prompt 0 = mở đầu bằng 'giúp tôi hiểu vấn đề', không phải 'cho tôi giải pháp'. Dùng ở đầu mọi hội thoại.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Chạy demo SER trực tiếp, không giảng mô hình. Dẫn dắt tư duy; cố tình để AI mắc lỗi.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25' cá nhân điền WS1; 40' nhóm 4 phản biện &amp; viết Problem Statement. AI-TA coach cá nhân, facilitate nhóm.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ART1 vào Portfolio Section 1. Minimum bar buộc SV cân nhắc nhiều cách framing — chống chốt vấn đề vội.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Rubric R1 Formative. Pass Checklist: tham gia · WS1 · AI Declaration · Reflection · Human Verification.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 nối sang Session 2. Reflection 4 câu chuẩn cho mọi session. Đối chiếu 2 công cụ AI giúp thấy AI không phải chân lý duy nhất.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as a Thought Partner: Understanding Authentic Problems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2606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AI Literacy to AI-Assisted Problem Solving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383280"/>
            <a:ext cx="10881360" cy="82296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3832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hỏi neo:  </a:t>
            </a:r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 đưa cho bạn đáp án — hay giúp bạn hiểu vấn đề?"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480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1 — Problem Framing   ·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Understand the Problem   ·   CLO1 · CLO2   ·   120'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Course 2 — AI-Assisted Problem Solving  ·  Flagship case: Speech Emotion Recognition (SER)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at a Glance — 120'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914400"/>
                <a:gridCol w="4572000"/>
                <a:gridCol w="24688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Intent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Mini Lecture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20'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conceptual foundation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Live Demo (SER)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20'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 AI reasoning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 prompt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· Individual Practice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25'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 concepts to own problem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· Group Workshop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40'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Collaborative problem framing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Feedback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· Reflection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15'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Consolidate learning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Rubric &amp; Collect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Buffer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5'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Chuyển tiếp / xử lý tình huống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1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Outcomes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6949440"/>
                <a:gridCol w="1828800"/>
                <a:gridCol w="1280160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Sau buổi học, sinh viên có thể…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 vai trò AI là Thought Partner (không phải Answer Machine)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Understand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Distinguish Problem — Symptom — Solution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Analyze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Analyze stakeholder của một bài toán xác thực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Analyze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 một Problem Statement ban đầu có bằng chứng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Evaluate output của AI qua kiểm chứng &amp; phản biện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1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Concepts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108960" cy="914400"/>
          </a:xfrm>
          <a:prstGeom prst="roundRect">
            <a:avLst>
              <a:gd name="adj" fmla="val 6000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31089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 Mindset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931920" y="182880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 Thought Partner · Human-led AI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907792"/>
            <a:ext cx="3108960" cy="914400"/>
          </a:xfrm>
          <a:prstGeom prst="roundRect">
            <a:avLst>
              <a:gd name="adj" fmla="val 6000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907792"/>
            <a:ext cx="31089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 Problem Framing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931920" y="2907792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 Problem · Problem Statement · Stakeholder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986784"/>
            <a:ext cx="3108960" cy="914400"/>
          </a:xfrm>
          <a:prstGeom prst="roundRect">
            <a:avLst>
              <a:gd name="adj" fmla="val 6000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986784"/>
            <a:ext cx="31089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 Methods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931920" y="3986784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Thinking (Empathize–Define) · Problem Bank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5065776"/>
            <a:ext cx="3108960" cy="914400"/>
          </a:xfrm>
          <a:prstGeom prst="roundRect">
            <a:avLst>
              <a:gd name="adj" fmla="val 6000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5065776"/>
            <a:ext cx="31089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④ Governance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931920" y="5065776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Declaration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1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Pre-class Preparation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194560" cy="914400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202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7520" y="192024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Foundation Handbook · AI Use Policy · Problem Bank catalogue · handout "From Symptom to Problem"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3017520"/>
            <a:ext cx="2194560" cy="914400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0175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bị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017520" y="301752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 2–3 bài toán ứng viên từ Problem Bank (theo ngành của bạn)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4114800"/>
            <a:ext cx="2194560" cy="914400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1148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 theo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017520" y="411480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đã sạc · tài khoản Gemini (đăng nhập sẵn)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0080" y="55778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vào lớp: đã đọc ☐   đã shortlist ☐   đăng nhập Gemini ☐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1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Lecture · Vị trí trong hành trình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77724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1051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1579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Literacy — nền tảng hiểu AI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06240" y="251460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7A"/>
                </a:solidFill>
              </a:rPr>
              <a:t>↓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7772400" cy="777240"/>
          </a:xfrm>
          <a:prstGeom prst="roundRect">
            <a:avLst>
              <a:gd name="adj" fmla="val 7059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8163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2  ◄ Bạn đang ở đây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316382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Problem Solving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06240" y="35204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7A"/>
                </a:solidFill>
              </a:rPr>
              <a:t>↓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749040"/>
            <a:ext cx="77724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8221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416966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Research-Based Learning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06240" y="452628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7A"/>
                </a:solidFill>
              </a:rPr>
              <a:t>↓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754880"/>
            <a:ext cx="77724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8280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517550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án tốt nghiệp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0" y="283464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Vấn đề bạn chọn hôm nay theo bạn tới tận Capstone — hãy chọn nghiêm túc.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1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Lecture · Problem Solving Cycle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1971446" cy="640080"/>
          </a:xfrm>
          <a:prstGeom prst="roundRect">
            <a:avLst>
              <a:gd name="adj" fmla="val 8571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377440"/>
            <a:ext cx="1971446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602382" y="237744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A"/>
                </a:solidFill>
              </a:rPr>
              <a:t>▶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867558" y="2377440"/>
            <a:ext cx="1971446" cy="640080"/>
          </a:xfrm>
          <a:prstGeom prst="roundRect">
            <a:avLst>
              <a:gd name="adj" fmla="val 8571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2867558" y="2377440"/>
            <a:ext cx="1971446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29861" y="237744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A"/>
                </a:solidFill>
              </a:rPr>
              <a:t>▶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95037" y="2377440"/>
            <a:ext cx="1971446" cy="640080"/>
          </a:xfrm>
          <a:prstGeom prst="roundRect">
            <a:avLst>
              <a:gd name="adj" fmla="val 8571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5095037" y="2377440"/>
            <a:ext cx="1971446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057339" y="237744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A"/>
                </a:solidFill>
              </a:rPr>
              <a:t>▶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322515" y="2377440"/>
            <a:ext cx="1971446" cy="640080"/>
          </a:xfrm>
          <a:prstGeom prst="roundRect">
            <a:avLst>
              <a:gd name="adj" fmla="val 8571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7322515" y="2377440"/>
            <a:ext cx="1971446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284818" y="237744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A"/>
                </a:solidFill>
              </a:rPr>
              <a:t>▶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549994" y="2377440"/>
            <a:ext cx="1971446" cy="640080"/>
          </a:xfrm>
          <a:prstGeom prst="roundRect">
            <a:avLst>
              <a:gd name="adj" fmla="val 8571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9549994" y="2377440"/>
            <a:ext cx="1971446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33832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tập trung 2 bước đầu:  Understand + Frame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" y="41148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hỗ trợ mọi bước — nhưng con người quyết định mọi bước.
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Framing sai thì mọi thứ sau đó đổ vỡ.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1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Lecture · AI as a Thought Partner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1206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A832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1168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indent="0" marL="0">
              <a:buNone/>
            </a:pPr>
            <a:r>
              <a:rPr lang="en-US" sz="16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Engine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971800"/>
            <a:ext cx="51206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A832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9718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indent="0" marL="0">
              <a:buNone/>
            </a:pPr>
            <a:r>
              <a:rPr lang="en-US" sz="16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3931920"/>
            <a:ext cx="51206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A832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9319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indent="0" marL="0">
              <a:buNone/>
            </a:pPr>
            <a:r>
              <a:rPr lang="en-US" sz="16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Machine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26480" y="2011680"/>
            <a:ext cx="5394960" cy="2514600"/>
          </a:xfrm>
          <a:prstGeom prst="roundRect">
            <a:avLst>
              <a:gd name="adj" fmla="val 2909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22860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= Thought Partner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6309360" y="297180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 tác tư duy:
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đặt câu hỏi ngược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thách thức giả định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có thể sai (rất tự tin)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5029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 xử với AI như đồng nghiệp giỏi — luôn cần kiểm chứng.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1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Lecture · Human-led AI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528316" cy="640080"/>
          </a:xfrm>
          <a:prstGeom prst="roundRect">
            <a:avLst>
              <a:gd name="adj" fmla="val 8571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03120"/>
            <a:ext cx="2528316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159252" y="210312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A"/>
                </a:solidFill>
              </a:rPr>
              <a:t>▶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424428" y="2103120"/>
            <a:ext cx="2528316" cy="640080"/>
          </a:xfrm>
          <a:prstGeom prst="roundRect">
            <a:avLst>
              <a:gd name="adj" fmla="val 8571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3424428" y="2103120"/>
            <a:ext cx="2528316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Verify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0" y="210312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A"/>
                </a:solidFill>
              </a:rPr>
              <a:t>▶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208776" y="2103120"/>
            <a:ext cx="2528316" cy="640080"/>
          </a:xfrm>
          <a:prstGeom prst="roundRect">
            <a:avLst>
              <a:gd name="adj" fmla="val 8571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208776" y="2103120"/>
            <a:ext cx="2528316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Improve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727948" y="210312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A"/>
                </a:solidFill>
              </a:rPr>
              <a:t>▶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993124" y="2103120"/>
            <a:ext cx="2528316" cy="640080"/>
          </a:xfrm>
          <a:prstGeom prst="roundRect">
            <a:avLst>
              <a:gd name="adj" fmla="val 8571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8993124" y="2103120"/>
            <a:ext cx="2528316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Decide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2004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câu hỏi vàng với mọi output của AI: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703320"/>
            <a:ext cx="3429000" cy="68580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70332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343400" y="3703320"/>
            <a:ext cx="3429000" cy="68580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/>
        </p:spPr>
      </p:sp>
      <p:sp>
        <p:nvSpPr>
          <p:cNvPr id="19" name="Text 17"/>
          <p:cNvSpPr/>
          <p:nvPr/>
        </p:nvSpPr>
        <p:spPr>
          <a:xfrm>
            <a:off x="4343400" y="370332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evidence?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046720" y="3703320"/>
            <a:ext cx="3429000" cy="68580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0" y="370332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verify?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Trách nhiệm cuối cùng là của con người → đó là lý do có AI Declaration.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1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Lecture · Đừng nhảy tới Solution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456432" cy="6858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94560"/>
            <a:ext cx="3456432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087368" y="2194560"/>
            <a:ext cx="274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A"/>
                </a:solidFill>
              </a:rPr>
              <a:t>▶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352544" y="2194560"/>
            <a:ext cx="3456432" cy="6858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4352544" y="2194560"/>
            <a:ext cx="3456432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99832" y="2194560"/>
            <a:ext cx="274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A"/>
                </a:solidFill>
              </a:rPr>
              <a:t>▶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065008" y="2194560"/>
            <a:ext cx="3456432" cy="6858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8065008" y="2194560"/>
            <a:ext cx="3456432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1089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
</a:t>
            </a:r>
            <a:pPr algn="ctr" indent="0" marL="0">
              <a:buNone/>
            </a:pPr>
            <a:r>
              <a:rPr lang="en-US" sz="14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biểu hiện bề mặt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43400" y="31089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
</a:t>
            </a:r>
            <a:pPr algn="ctr" indent="0" marL="0">
              <a:buNone/>
            </a:pPr>
            <a:r>
              <a:rPr lang="en-US" sz="14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vấn đề gốc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046720" y="31089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
</a:t>
            </a:r>
            <a:pPr algn="ctr" indent="0" marL="0">
              <a:buNone/>
            </a:pPr>
            <a:r>
              <a:rPr lang="en-US" sz="14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bàn SAU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29768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FBECD9"/>
          </a:solidFill>
          <a:ln w="12700">
            <a:solidFill>
              <a:srgbClr val="C9781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29768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7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Sai lầm phổ biến nhất:  </a:t>
            </a:r>
            <a:pPr indent="0" marL="0">
              <a:buNone/>
            </a:pPr>
            <a:r>
              <a:rPr lang="en-US" sz="1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nhảy thẳng Problem → Solution, bỏ qua Evidence.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1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Lecture · Problem Bank (InnoLab)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 bài toán thực tế theo lĩnh vực: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2066544" cy="82296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377440"/>
            <a:ext cx="2066544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816352" y="2377440"/>
            <a:ext cx="2066544" cy="82296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2816352" y="2377440"/>
            <a:ext cx="2066544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992624" y="2377440"/>
            <a:ext cx="2066544" cy="82296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4992624" y="2377440"/>
            <a:ext cx="2066544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168896" y="2377440"/>
            <a:ext cx="2066544" cy="82296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7168896" y="2377440"/>
            <a:ext cx="2066544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345168" y="2377440"/>
            <a:ext cx="2066544" cy="82296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9345168" y="2377440"/>
            <a:ext cx="2066544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Campus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6576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sinh viên chọn 01 Problem → theo suốt khóa → lớn dần thành Capstone. Ưu tiên bài toán xác thực, có ngữ cảnh &amp; stakeholder thật.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1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Lecture · Prompt 0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A832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3736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Answer Machine
</a:t>
            </a:r>
            <a:pPr indent="0" marL="0">
              <a:buNone/>
            </a:pPr>
            <a:r>
              <a:rPr lang="en-US" sz="1600" i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"Give me the solution."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126480" y="173736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1E7A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0" y="173736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Thought Partner
</a:t>
            </a:r>
            <a:pPr indent="0" marL="0">
              <a:buNone/>
            </a:pPr>
            <a:r>
              <a:rPr lang="en-US" sz="1600" i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"Help me understand the problem."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2918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AI-assisted Inquiry: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794760"/>
            <a:ext cx="1600200" cy="640080"/>
          </a:xfrm>
          <a:prstGeom prst="roundRect">
            <a:avLst>
              <a:gd name="adj" fmla="val 8571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794760"/>
            <a:ext cx="160020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31136" y="379476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A"/>
                </a:solidFill>
              </a:rPr>
              <a:t>▶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96312" y="3794760"/>
            <a:ext cx="1600200" cy="640080"/>
          </a:xfrm>
          <a:prstGeom prst="roundRect">
            <a:avLst>
              <a:gd name="adj" fmla="val 8571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2496312" y="3794760"/>
            <a:ext cx="160020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Brainstorm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087368" y="379476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A"/>
                </a:solidFill>
              </a:rPr>
              <a:t>▶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352544" y="3794760"/>
            <a:ext cx="1600200" cy="640080"/>
          </a:xfrm>
          <a:prstGeom prst="roundRect">
            <a:avLst>
              <a:gd name="adj" fmla="val 8571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4352544" y="3794760"/>
            <a:ext cx="160020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0" y="379476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A"/>
                </a:solidFill>
              </a:rPr>
              <a:t>▶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208776" y="3794760"/>
            <a:ext cx="1600200" cy="640080"/>
          </a:xfrm>
          <a:prstGeom prst="roundRect">
            <a:avLst>
              <a:gd name="adj" fmla="val 8571"/>
            </a:avLst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6208776" y="3794760"/>
            <a:ext cx="160020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99832" y="379476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A"/>
                </a:solidFill>
              </a:rPr>
              <a:t>▶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065008" y="3794760"/>
            <a:ext cx="1600200" cy="640080"/>
          </a:xfrm>
          <a:prstGeom prst="roundRect">
            <a:avLst>
              <a:gd name="adj" fmla="val 8571"/>
            </a:avLst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8065008" y="3794760"/>
            <a:ext cx="160020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56064" y="379476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A"/>
                </a:solidFill>
              </a:rPr>
              <a:t>▶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921240" y="3794760"/>
            <a:ext cx="1600200" cy="640080"/>
          </a:xfrm>
          <a:prstGeom prst="roundRect">
            <a:avLst>
              <a:gd name="adj" fmla="val 8571"/>
            </a:avLst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9921240" y="3794760"/>
            <a:ext cx="160020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1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· SER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5544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"Làm thế nào để xây dựng một hệ thống AI nhận diện cảm xúc của người nói?" — GV KHÔNG bàn mô hình.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514600"/>
          <a:ext cx="108813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6400800"/>
                <a:gridCol w="36576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(SER)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Output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PL-00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Help me understand the SER problem. Don't propose a model yet.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Bối cảnh, chưa kỹ thuật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PL-01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'recognize emotion from speech' a real problem or a solution?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Phân biệt nhu cầu vs công nghệ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are the stakeholders and what does each care about?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Gồm cả nhóm rủi ro/privacy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1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· Expected AI Mistakes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914400"/>
        </p:xfrm>
        <a:graphic>
          <a:graphicData uri="http://schemas.openxmlformats.org/drawingml/2006/table">
            <a:tbl>
              <a:tblPr/>
              <a:tblGrid>
                <a:gridCol w="5440680"/>
                <a:gridCol w="5440680"/>
              </a:tblGrid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Mistake (để lộ có chủ đích)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8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Câu hỏi phản biện dẫn dắt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Nhảy sang 'dùng CNN/deep learning'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i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 đã định nghĩa vấn đề chưa mà đã bàn mô hình?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Bỏ sót stakeholder nhạy cảm (privacy)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i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chịu ảnh hưởng mà chưa được nhắc?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Coi SER là mục tiêu, không hỏi 'để làm gì'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i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 phục vụ quyết định gì của ai?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5778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người: Verify → Improve → Decide → Own.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1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&amp; Group Workshop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Practice · 25'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01 bài toán; dùng AI để:
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brainstorm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stakeholders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assumptions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điền Worksheet WS1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534924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Workshop · 40' (nhóm 4)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0" y="228600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Thảo luận:
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đâu là problem? đâu là symptom?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có sai không? cần hỏi thêm gì?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viết Problem Statement của nhóm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29768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Worksheet WS1: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· Stakeholders · Symptoms · Possible Causes · Evidence · AI Suggestions · Human Corrections · Final Problem Statement · Reflection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1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 · ART1 — Problem Definition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694944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Thành phần bắt buộc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Mô tả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 Statement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· Significance · vì sao đáng giải quyết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 Bank Flagship 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Mã bài toán đã chọn (truy vết cả khóa)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Initial Scope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Cái gì trong / ngoài phạm vi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Stakeholders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bị ảnh hưởng · ai quyết định · mỗi bên coi trọng gì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Log · Reflection · AI Declaration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Minh bạch quá trình &amp; vai trò AI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074920"/>
            <a:ext cx="10881360" cy="822960"/>
          </a:xfrm>
          <a:prstGeom prst="roundRect">
            <a:avLst>
              <a:gd name="adj" fmla="val 6667"/>
            </a:avLst>
          </a:prstGeom>
          <a:solidFill>
            <a:srgbClr val="FBECD9"/>
          </a:solidFill>
          <a:ln w="12700">
            <a:solidFill>
              <a:srgbClr val="C9781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507492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97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bar:  </a:t>
            </a:r>
            <a:pPr indent="0" marL="0">
              <a:buNone/>
            </a:pPr>
            <a:r>
              <a:rPr lang="en-US" sz="14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đủ 4 thành phần cốt lõi + xét &amp; loại 2 cách framing thay thế (kèm lý do).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1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 · Rubric R1 (0–3)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280160"/>
                <a:gridCol w="603504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Tiêu chí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Trọng số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Mức Proficient (2)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 Definition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Vấn đề rõ, phân biệt symptom/root cause, có scope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AI-assisted Process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Dùng AI đúng vai Thought Partner (có Prompt 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 Evaluation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Phát hiện &amp; sửa ≥1 lỗi AI, có bằng chứng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Decision &amp; Justification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Quyết định framing rõ, có lý 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Reflection &amp; AI Declaration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Reflection 4 câu + Declaration đầy đủ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Thang mỗi tiêu chí: 0 Missing · 1 Developing · 2 Proficient · 3 Exemplary  (đầy đủ ở Handbook Mục V.1).  Pass = mỗi tiêu chí ≥ 1 và tổng ≥ 60%.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1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Homework &amp; Reflection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48640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74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5029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Chọn 01 flagship từ Problem Bank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Problem Statement 150–200 từ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Stakeholders · Symptoms · Root Causes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Đính kèm AI Log + AI Declaration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Trao đổi với 1 người bị ảnh hưởng — ghi lại điều làm đổi framing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737360"/>
            <a:ext cx="5257800" cy="3291840"/>
          </a:xfrm>
          <a:prstGeom prst="roundRect">
            <a:avLst>
              <a:gd name="adj" fmla="val 1667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874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(4 câu chuẩn)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237744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AI giúp gì?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AI sai ở đâu?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Bạn chỉnh gì?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Bạn học gì?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5257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Tools: Gemini EDU / ChatGPT / Claude — khuyến khích dùng công cụ thứ hai để đối chiếu framing.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1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Chốt buổi học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7830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</a:rPr>
              <a:t>●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7280" y="17830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mở rộng tư duy của bạn — không thay thế nó.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244144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</a:rPr>
              <a:t>●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244144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 về hôm nay: Problem Definition Package (ART1).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309981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</a:rPr>
              <a:t>●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309981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Hiểu vấn đề trước — rồi mới giải.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411480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11480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"Let's see how AI can help us understand the problem — and where it can be wrong."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6126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before you solve.  ·  AI is a Thought Partner, not the Decision Maker.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2026-07-30T13:02:38Z</dcterms:created>
  <dcterms:modified xsi:type="dcterms:W3CDTF">2026-07-30T13:02:38Z</dcterms:modified>
</cp:coreProperties>
</file>